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2C1047-306B-4150-9B5C-79C4115D81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50644B8-1CA1-4BBE-ADA4-DD8DEEA800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E3ECA16-6C45-4E15-8FB3-1F5C48C41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134C6-C254-4465-999C-C42322378619}" type="datetimeFigureOut">
              <a:rPr lang="zh-TW" altLang="en-US" smtClean="0"/>
              <a:t>2025/7/3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0EC2B70-44B1-42B5-B621-20014A432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19DB55E-25E8-40A8-A37B-EF6D122B1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BDE19-E238-4920-8D3C-8F953B0668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0137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3FA58A8-685C-47CD-AE9F-232BC5552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280D0C5-65AC-4894-8D9E-A7272B20F4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2EE48A6-1DE8-4644-B884-7A22E9F84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134C6-C254-4465-999C-C42322378619}" type="datetimeFigureOut">
              <a:rPr lang="zh-TW" altLang="en-US" smtClean="0"/>
              <a:t>2025/7/3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9EE1228-4C4E-4F6A-A553-923171D1F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3629BD2-E6C8-4C5C-A4A2-348D1AC9C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BDE19-E238-4920-8D3C-8F953B0668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71111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47A6615-2711-46AB-A56A-0F8175039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D5E5E01-F670-4151-B4BD-7BC16010C7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DC655C3-59CE-44A2-8CCE-D068F9500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134C6-C254-4465-999C-C42322378619}" type="datetimeFigureOut">
              <a:rPr lang="zh-TW" altLang="en-US" smtClean="0"/>
              <a:t>2025/7/3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B18BF92-C7F1-4B36-AD66-CC9E36076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79B3C10-7765-4169-B57C-887888032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BDE19-E238-4920-8D3C-8F953B0668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3667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0D688E4-6219-471D-992F-29F860338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F08F27D-756E-47FB-BCE4-A869D17651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8AEA7F4-998D-4A31-A8F9-88A37A5C62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84DCACD-0BDD-4AA7-BC2D-41711F06A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134C6-C254-4465-999C-C42322378619}" type="datetimeFigureOut">
              <a:rPr lang="zh-TW" altLang="en-US" smtClean="0"/>
              <a:t>2025/7/3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257BB48-EA74-405E-BD59-88EE16BE7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D796DD9-871D-4B36-997A-96E1F207E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BDE19-E238-4920-8D3C-8F953B0668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00463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F295C61-C98A-44C9-8E80-5771E572D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E76C65F-FB5A-4E68-97E1-8F65A181B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937608B-4BFB-4B0F-99D1-19909D328B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910C7DDC-88E0-4917-B5D0-00233DA5C8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6DC8D1C-78B2-40DA-80AC-DF1F196599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E765C834-C178-4B7E-942F-3F8B206B9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134C6-C254-4465-999C-C42322378619}" type="datetimeFigureOut">
              <a:rPr lang="zh-TW" altLang="en-US" smtClean="0"/>
              <a:t>2025/7/3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CF6D624C-22C9-4C90-82C2-0314F0746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9F8326C3-78AD-4D63-8D8F-B1088ED63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BDE19-E238-4920-8D3C-8F953B0668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77090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11A5E82-7044-4FB6-8DF6-90AFB118F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FA528382-B831-40DD-BA49-454B43009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134C6-C254-4465-999C-C42322378619}" type="datetimeFigureOut">
              <a:rPr lang="zh-TW" altLang="en-US" smtClean="0"/>
              <a:t>2025/7/3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8FD5399-51AD-48E9-8861-B3D968154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27C6531-2760-46B7-9D02-5F2F160B2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BDE19-E238-4920-8D3C-8F953B0668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09185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A944CF72-3A54-438B-B1C3-E4A1C787A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134C6-C254-4465-999C-C42322378619}" type="datetimeFigureOut">
              <a:rPr lang="zh-TW" altLang="en-US" smtClean="0"/>
              <a:t>2025/7/3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9018B84-77A0-4948-9FC1-3C54A0CA4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21A63AD-23D2-46D1-89F1-B5521BE3A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BDE19-E238-4920-8D3C-8F953B0668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2070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556ACAB-02E2-4CE1-A73D-97BDC0E5D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5773989-B8E5-4D13-97D4-27FB6272C2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31B409A-8D49-4969-AC6A-AC864B0232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1395F05-3F4E-4EEF-8BD4-3FC07DC4C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134C6-C254-4465-999C-C42322378619}" type="datetimeFigureOut">
              <a:rPr lang="zh-TW" altLang="en-US" smtClean="0"/>
              <a:t>2025/7/3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BD81793-2F11-44D9-8EC3-892B07690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F83B078-85BA-40CC-9A03-46E7AE287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BDE19-E238-4920-8D3C-8F953B0668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4720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79D0F5-312E-498F-B05B-5BD4294F3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0098905-0A22-4F58-910B-190697EDA4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CE8995C-4C6D-4281-9C40-018D65C8F0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F485C96-A6AA-4C5A-812C-E8316987F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134C6-C254-4465-999C-C42322378619}" type="datetimeFigureOut">
              <a:rPr lang="zh-TW" altLang="en-US" smtClean="0"/>
              <a:t>2025/7/3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CFA1E54-3F2F-44E2-9AA5-45DEB16E7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C9E54B3-A623-4462-9A25-24798EF10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BDE19-E238-4920-8D3C-8F953B0668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9309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9FFD75-3BDE-4EE2-B938-5141A7264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041991D-5208-45C6-B90C-08DA9B1829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432B9D2-8C0A-40B3-8D1B-04B39F34F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134C6-C254-4465-999C-C42322378619}" type="datetimeFigureOut">
              <a:rPr lang="zh-TW" altLang="en-US" smtClean="0"/>
              <a:t>2025/7/3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D299F65-F5D6-4D4A-A054-94B6E5B28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CF9AD9A-427B-40F1-8572-90CBD36BC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BDE19-E238-4920-8D3C-8F953B0668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6430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E14B3D7A-AB7F-4CC2-BAE9-39CBE003FB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ED41D54-9288-4DC8-BA72-BD715DFD8A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1D8CCDE-96FE-4686-8B35-E46A857CB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134C6-C254-4465-999C-C42322378619}" type="datetimeFigureOut">
              <a:rPr lang="zh-TW" altLang="en-US" smtClean="0"/>
              <a:t>2025/7/3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D85905B-A305-4A1C-94C5-2FD6227D3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CCC0B20-EF32-445D-B278-6F70B2A00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BDE19-E238-4920-8D3C-8F953B0668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5308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BA462589-1FA0-4236-88A6-86E77158B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A1C8B30-91CA-4B03-89D9-9FC73B306B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E247B83-194C-4B2D-BF7A-F62BD8C555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9134C6-C254-4465-999C-C42322378619}" type="datetimeFigureOut">
              <a:rPr lang="zh-TW" altLang="en-US" smtClean="0"/>
              <a:t>2025/7/3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87F0BC1-7F0F-4BB0-A9A8-9D451200F8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B5C48AA-944B-4428-BD6B-F9E45BE823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BBDE19-E238-4920-8D3C-8F953B0668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6066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drive.google.com/file/d/1l86oYmvRWZyk1FCaIaD38ZJ3DL5OYDJn/view?usp=drive_link" TargetMode="External"/><Relationship Id="rId3" Type="http://schemas.openxmlformats.org/officeDocument/2006/relationships/image" Target="../media/image1.jpg"/><Relationship Id="rId7" Type="http://schemas.openxmlformats.org/officeDocument/2006/relationships/image" Target="../media/image3.png"/><Relationship Id="rId2" Type="http://schemas.openxmlformats.org/officeDocument/2006/relationships/hyperlink" Target="https://drive.google.com/file/d/1rVs_pXrLswiR1stsPnAV6IJO5srfXXIQ/view?usp=drive_link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rive.google.com/file/d/1FaJo71EoOHytZogcs8ewldUd2BujET9R/view?usp=drive_link" TargetMode="External"/><Relationship Id="rId5" Type="http://schemas.openxmlformats.org/officeDocument/2006/relationships/image" Target="../media/image2.png"/><Relationship Id="rId4" Type="http://schemas.openxmlformats.org/officeDocument/2006/relationships/hyperlink" Target="https://drive.google.com/file/d/19KBGOPOEzCR-skGrlpOppoDyLxzWbEt_/view?usp=drive_link" TargetMode="External"/><Relationship Id="rId9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drive.google.com/file/d/1GE5_niK1LPDVmgp9B9JL6I3UZxpZ75Vc/view?usp=drive_link" TargetMode="External"/><Relationship Id="rId3" Type="http://schemas.openxmlformats.org/officeDocument/2006/relationships/image" Target="../media/image5.png"/><Relationship Id="rId7" Type="http://schemas.openxmlformats.org/officeDocument/2006/relationships/image" Target="../media/image7.jpg"/><Relationship Id="rId2" Type="http://schemas.openxmlformats.org/officeDocument/2006/relationships/hyperlink" Target="https://drive.google.com/file/d/1rVs_pXrLswiR1stsPnAV6IJO5srfXXIQ/view?usp=drive_link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rive.google.com/file/d/1yvrpGPEN6EGPEZ2qfkRtV-jzd8d2C-lo/view?usp=drive_link" TargetMode="External"/><Relationship Id="rId11" Type="http://schemas.openxmlformats.org/officeDocument/2006/relationships/image" Target="../media/image9.jpg"/><Relationship Id="rId5" Type="http://schemas.openxmlformats.org/officeDocument/2006/relationships/image" Target="../media/image6.png"/><Relationship Id="rId10" Type="http://schemas.openxmlformats.org/officeDocument/2006/relationships/hyperlink" Target="https://drive.google.com/file/d/1qe5iikT_rjNekmNYSHiAzp7FiUmm2vjV/view?usp=drive_link" TargetMode="External"/><Relationship Id="rId4" Type="http://schemas.openxmlformats.org/officeDocument/2006/relationships/hyperlink" Target="https://drive.google.com/file/d/19KBGOPOEzCR-skGrlpOppoDyLxzWbEt_/view?usp=drive_link" TargetMode="External"/><Relationship Id="rId9" Type="http://schemas.openxmlformats.org/officeDocument/2006/relationships/image" Target="../media/image8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hyperlink" Target="https://drive.google.com/file/d/1jo3tzp2EtMYHNC5Xj_F2Lua0V_g1OKHU/view?usp=drive_link" TargetMode="External"/><Relationship Id="rId7" Type="http://schemas.openxmlformats.org/officeDocument/2006/relationships/image" Target="../media/image14.jpe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e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drive.google.com/file/d/10ksF0OwTq0f62YztEED9yDmy-Tf8fivk/view?usp=drive_link" TargetMode="External"/><Relationship Id="rId3" Type="http://schemas.openxmlformats.org/officeDocument/2006/relationships/image" Target="../media/image16.jpg"/><Relationship Id="rId7" Type="http://schemas.openxmlformats.org/officeDocument/2006/relationships/image" Target="../media/image19.jpg"/><Relationship Id="rId2" Type="http://schemas.openxmlformats.org/officeDocument/2006/relationships/hyperlink" Target="https://drive.google.com/file/d/1eAPiJ3AmFe6-tRd_jywiQh33sJmWF3sq/view?usp=drive_link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rive.google.com/file/d/1x9Ffz-ForGl6-e5vONuoBa1vlvRre4nR/view?usp=drive_link" TargetMode="External"/><Relationship Id="rId11" Type="http://schemas.openxmlformats.org/officeDocument/2006/relationships/image" Target="../media/image21.jpg"/><Relationship Id="rId5" Type="http://schemas.openxmlformats.org/officeDocument/2006/relationships/image" Target="../media/image18.jpg"/><Relationship Id="rId10" Type="http://schemas.openxmlformats.org/officeDocument/2006/relationships/hyperlink" Target="https://drive.google.com/file/d/1fdH8QBqTijOc17k_sWpyDedm9x9OD_Fi/view?usp=drive_link" TargetMode="External"/><Relationship Id="rId4" Type="http://schemas.openxmlformats.org/officeDocument/2006/relationships/image" Target="../media/image17.jpg"/><Relationship Id="rId9" Type="http://schemas.openxmlformats.org/officeDocument/2006/relationships/image" Target="../media/image20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7" Type="http://schemas.openxmlformats.org/officeDocument/2006/relationships/image" Target="../media/image25.jpg"/><Relationship Id="rId2" Type="http://schemas.openxmlformats.org/officeDocument/2006/relationships/hyperlink" Target="https://drive.google.com/file/d/1a7tmZ5dVcY1wDEAiD8562YBZUnunVlqO/view?usp=drive_link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jpg"/><Relationship Id="rId5" Type="http://schemas.openxmlformats.org/officeDocument/2006/relationships/hyperlink" Target="https://drive.google.com/file/d/1hBKuffl2hvccqPYSRxm0ctcU6qgecnMg/view?usp=drive_link" TargetMode="External"/><Relationship Id="rId4" Type="http://schemas.openxmlformats.org/officeDocument/2006/relationships/image" Target="../media/image2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4C4YRBDyfcritqV_N0o3Nb9CaeQfi88_/view?usp=drive_link" TargetMode="External"/><Relationship Id="rId7" Type="http://schemas.openxmlformats.org/officeDocument/2006/relationships/image" Target="../media/image29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jpg"/><Relationship Id="rId5" Type="http://schemas.openxmlformats.org/officeDocument/2006/relationships/hyperlink" Target="https://drive.google.com/file/d/1C0QA_lu-6o5D9YSr-84WhEphm1ReGAZ4/view?usp=drive_link" TargetMode="External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jpg"/><Relationship Id="rId3" Type="http://schemas.openxmlformats.org/officeDocument/2006/relationships/hyperlink" Target="https://drive.google.com/file/d/1kLbtDxNWONMN_DDJWH3cuI1A_lRaBjuv/view?usp=drive_link" TargetMode="External"/><Relationship Id="rId7" Type="http://schemas.openxmlformats.org/officeDocument/2006/relationships/hyperlink" Target="https://drive.google.com/file/d/1Rt7rvFjk8wy8m5L93aP8CeGpe94Mj2xq/view?usp=drive_link" TargetMode="External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hyperlink" Target="https://drive.google.com/file/d/15XlbBfSRRm9hPQBwA21Gkv0CYeD_6-YH/view?usp=drive_link" TargetMode="External"/><Relationship Id="rId4" Type="http://schemas.openxmlformats.org/officeDocument/2006/relationships/image" Target="../media/image31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7" Type="http://schemas.openxmlformats.org/officeDocument/2006/relationships/image" Target="../media/image38.jpg"/><Relationship Id="rId2" Type="http://schemas.openxmlformats.org/officeDocument/2006/relationships/hyperlink" Target="https://drive.google.com/file/d/1trN-2UD19SKXTY4azuzsSWdpW75A85fZ/view?usp=drive_link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jpg"/><Relationship Id="rId5" Type="http://schemas.openxmlformats.org/officeDocument/2006/relationships/image" Target="../media/image36.jpg"/><Relationship Id="rId4" Type="http://schemas.openxmlformats.org/officeDocument/2006/relationships/image" Target="../media/image3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BE2CB19-F416-4F6A-8124-A14075F9B2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珊瑚農場百萬缸內的</a:t>
            </a:r>
            <a:b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珊瑚物種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9C59BAA-A662-4FA9-8C88-B0545256F9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765791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8A4B2DB-CEDA-4B09-B028-2457FA009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671" y="43104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#1. 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Acropora </a:t>
            </a:r>
            <a:r>
              <a:rPr lang="en-US" altLang="zh-TW" sz="2400" i="1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aff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. </a:t>
            </a:r>
            <a:r>
              <a:rPr lang="en-US" altLang="zh-TW" sz="2400" i="1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samoensis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2400" i="1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tumida</a:t>
            </a:r>
            <a:r>
              <a:rPr lang="en-US" altLang="zh-TW" sz="2400" i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 </a:t>
            </a:r>
            <a:r>
              <a:rPr lang="en-US" altLang="zh-TW" sz="2400" i="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三毛亞軸孔珊瑚</a:t>
            </a:r>
            <a:endParaRPr lang="zh-TW" altLang="en-US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Google Shape;440;p13" descr="一張含有 無脊椎動物, 微生物, 礁, 水面下的 的圖片&#10;&#10;自動產生的描述">
            <a:hlinkClick r:id="rId2"/>
            <a:extLst>
              <a:ext uri="{FF2B5EF4-FFF2-40B4-BE49-F238E27FC236}">
                <a16:creationId xmlns:a16="http://schemas.microsoft.com/office/drawing/2014/main" id="{FC6C1F9B-CD87-4031-80A0-4B7E1F7E1C4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01980" y="1319213"/>
            <a:ext cx="3326068" cy="22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439;p13">
            <a:hlinkClick r:id="rId4"/>
            <a:extLst>
              <a:ext uri="{FF2B5EF4-FFF2-40B4-BE49-F238E27FC236}">
                <a16:creationId xmlns:a16="http://schemas.microsoft.com/office/drawing/2014/main" id="{54779F28-34BD-4E79-B829-8997DF6CE21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28048" y="1319213"/>
            <a:ext cx="3088401" cy="2232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436;p13">
            <a:extLst>
              <a:ext uri="{FF2B5EF4-FFF2-40B4-BE49-F238E27FC236}">
                <a16:creationId xmlns:a16="http://schemas.microsoft.com/office/drawing/2014/main" id="{930809C1-A439-4064-984A-A77C4626A202}"/>
              </a:ext>
            </a:extLst>
          </p:cNvPr>
          <p:cNvSpPr txBox="1">
            <a:spLocks/>
          </p:cNvSpPr>
          <p:nvPr/>
        </p:nvSpPr>
        <p:spPr>
          <a:xfrm>
            <a:off x="2286671" y="3872014"/>
            <a:ext cx="6576644" cy="4507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#2. </a:t>
            </a:r>
            <a:r>
              <a:rPr lang="en-US" i="1" dirty="0"/>
              <a:t>Acropora </a:t>
            </a:r>
            <a:r>
              <a:rPr lang="en-US" i="1" dirty="0" err="1"/>
              <a:t>hyacinthus</a:t>
            </a:r>
            <a:r>
              <a:rPr lang="en-US" i="1" dirty="0"/>
              <a:t> </a:t>
            </a:r>
            <a:r>
              <a:rPr lang="zh-TW" altLang="en-US" dirty="0"/>
              <a:t>桌形軸孔珊瑚</a:t>
            </a:r>
          </a:p>
        </p:txBody>
      </p:sp>
      <p:pic>
        <p:nvPicPr>
          <p:cNvPr id="7" name="Google Shape;437;p13">
            <a:hlinkClick r:id="rId6"/>
            <a:extLst>
              <a:ext uri="{FF2B5EF4-FFF2-40B4-BE49-F238E27FC236}">
                <a16:creationId xmlns:a16="http://schemas.microsoft.com/office/drawing/2014/main" id="{F0EB9ED2-F413-476F-BD8E-15ACEDEAA7BE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775181" y="4322787"/>
            <a:ext cx="3320819" cy="22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438;p13" descr="一張含有 無脊椎動物, 珊瑚, 水, 微生物 的圖片&#10;&#10;自動產生的描述">
            <a:hlinkClick r:id="rId8"/>
            <a:extLst>
              <a:ext uri="{FF2B5EF4-FFF2-40B4-BE49-F238E27FC236}">
                <a16:creationId xmlns:a16="http://schemas.microsoft.com/office/drawing/2014/main" id="{5A328D40-1D21-4ED6-86F9-5CAFB99FB67F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096000" y="4322787"/>
            <a:ext cx="3115595" cy="2232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53007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8A4B2DB-CEDA-4B09-B028-2457FA009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671" y="43104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#3. 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Acropora grandis 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巨枝軸孔珊瑚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(Staghorn coral)</a:t>
            </a:r>
            <a:endParaRPr lang="zh-TW" altLang="en-US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Google Shape;440;p13">
            <a:hlinkClick r:id="rId2"/>
            <a:extLst>
              <a:ext uri="{FF2B5EF4-FFF2-40B4-BE49-F238E27FC236}">
                <a16:creationId xmlns:a16="http://schemas.microsoft.com/office/drawing/2014/main" id="{FC6C1F9B-CD87-4031-80A0-4B7E1F7E1C4E}"/>
              </a:ext>
            </a:extLst>
          </p:cNvPr>
          <p:cNvPicPr preferRelativeResize="0"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95575" y="1319213"/>
            <a:ext cx="3363999" cy="2347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439;p13">
            <a:hlinkClick r:id="rId4"/>
            <a:extLst>
              <a:ext uri="{FF2B5EF4-FFF2-40B4-BE49-F238E27FC236}">
                <a16:creationId xmlns:a16="http://schemas.microsoft.com/office/drawing/2014/main" id="{54779F28-34BD-4E79-B829-8997DF6CE212}"/>
              </a:ext>
            </a:extLst>
          </p:cNvPr>
          <p:cNvPicPr preferRelativeResize="0"/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56470" y="1319213"/>
            <a:ext cx="3115595" cy="234791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452;p14">
            <a:extLst>
              <a:ext uri="{FF2B5EF4-FFF2-40B4-BE49-F238E27FC236}">
                <a16:creationId xmlns:a16="http://schemas.microsoft.com/office/drawing/2014/main" id="{2C4E8EBB-AD1B-47B3-A852-EF6B18614346}"/>
              </a:ext>
            </a:extLst>
          </p:cNvPr>
          <p:cNvSpPr txBox="1">
            <a:spLocks noChangeAspect="1"/>
          </p:cNvSpPr>
          <p:nvPr/>
        </p:nvSpPr>
        <p:spPr>
          <a:xfrm>
            <a:off x="2436203" y="3752875"/>
            <a:ext cx="6576644" cy="4507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#4. </a:t>
            </a:r>
            <a:r>
              <a:rPr lang="en-US" i="1" dirty="0"/>
              <a:t>Acropora </a:t>
            </a:r>
            <a:r>
              <a:rPr lang="en-US" i="1" dirty="0" err="1"/>
              <a:t>pruinosa</a:t>
            </a:r>
            <a:r>
              <a:rPr lang="en-US" i="1" dirty="0"/>
              <a:t> </a:t>
            </a:r>
            <a:r>
              <a:rPr lang="zh-TW" altLang="en-US" dirty="0"/>
              <a:t>灰葉軸孔珊瑚</a:t>
            </a:r>
          </a:p>
        </p:txBody>
      </p:sp>
      <p:pic>
        <p:nvPicPr>
          <p:cNvPr id="10" name="Google Shape;453;p14" descr="一張含有 水, 水面下的, 微生物, 海洋生物學 的圖片&#10;&#10;自動產生的描述">
            <a:hlinkClick r:id="rId6"/>
            <a:extLst>
              <a:ext uri="{FF2B5EF4-FFF2-40B4-BE49-F238E27FC236}">
                <a16:creationId xmlns:a16="http://schemas.microsoft.com/office/drawing/2014/main" id="{B42E7CD0-4B09-4B76-B00B-BBA9A4E34026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7">
            <a:alphaModFix/>
          </a:blip>
          <a:srcRect/>
          <a:stretch/>
        </p:blipFill>
        <p:spPr>
          <a:xfrm rot="5400000">
            <a:off x="2195981" y="4663554"/>
            <a:ext cx="2412266" cy="15940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454;p14" descr="一張含有 珊瑚礁, 微生物, 水面下的, 珊瑚 的圖片&#10;&#10;自動產生的描述">
            <a:hlinkClick r:id="rId8"/>
            <a:extLst>
              <a:ext uri="{FF2B5EF4-FFF2-40B4-BE49-F238E27FC236}">
                <a16:creationId xmlns:a16="http://schemas.microsoft.com/office/drawing/2014/main" id="{17B91BCE-051E-4078-9083-4E3842FD8EBB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531932" y="4254448"/>
            <a:ext cx="2640133" cy="24122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455;p14" descr="一張含有 礁, 微生物, 水面下的, 海洋無脊椎動物 的圖片&#10;&#10;自動產生的描述">
            <a:hlinkClick r:id="rId10"/>
            <a:extLst>
              <a:ext uri="{FF2B5EF4-FFF2-40B4-BE49-F238E27FC236}">
                <a16:creationId xmlns:a16="http://schemas.microsoft.com/office/drawing/2014/main" id="{4BCCCC68-92CD-4C03-9DA2-5AA597FDDD60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199141" y="4254448"/>
            <a:ext cx="2640133" cy="241226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02373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480;p16">
            <a:extLst>
              <a:ext uri="{FF2B5EF4-FFF2-40B4-BE49-F238E27FC236}">
                <a16:creationId xmlns:a16="http://schemas.microsoft.com/office/drawing/2014/main" id="{44E958B9-CD26-4771-84DE-90366F4C48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17832" y="3555739"/>
            <a:ext cx="7565047" cy="5135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#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</a:t>
            </a:r>
            <a:r>
              <a:rPr 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. </a:t>
            </a:r>
            <a:r>
              <a:rPr lang="en-US" sz="2400" i="1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Fimbriaphyllia</a:t>
            </a:r>
            <a:r>
              <a:rPr lang="en-US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ancora</a:t>
            </a:r>
            <a:r>
              <a:rPr 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錨形紋葉珊瑚</a:t>
            </a:r>
            <a:r>
              <a:rPr 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(Anchor coral)</a:t>
            </a:r>
            <a:endParaRPr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9" name="Google Shape;485;p16">
            <a:extLst>
              <a:ext uri="{FF2B5EF4-FFF2-40B4-BE49-F238E27FC236}">
                <a16:creationId xmlns:a16="http://schemas.microsoft.com/office/drawing/2014/main" id="{2793B5C2-E5DB-40E4-A6EB-C1FE628E227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817832" y="4069313"/>
            <a:ext cx="2703303" cy="22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486;p16" descr="一張含有 礁, 無脊椎動物, 海洋無脊椎動物, 微生物 的圖片&#10;&#10;自動產生的描述">
            <a:hlinkClick r:id="rId3"/>
            <a:extLst>
              <a:ext uri="{FF2B5EF4-FFF2-40B4-BE49-F238E27FC236}">
                <a16:creationId xmlns:a16="http://schemas.microsoft.com/office/drawing/2014/main" id="{C1914415-EB1B-4B5A-A7E3-1FECD4C24A6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5225749" y="4346016"/>
            <a:ext cx="2232000" cy="16785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487;p16">
            <a:extLst>
              <a:ext uri="{FF2B5EF4-FFF2-40B4-BE49-F238E27FC236}">
                <a16:creationId xmlns:a16="http://schemas.microsoft.com/office/drawing/2014/main" id="{878249E6-93A5-485D-8B7A-81B5CD8AFBC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72474" y="4069313"/>
            <a:ext cx="2232000" cy="2229768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1A6FE298-FDDD-46F4-B6EB-EE54C45BA7C8}"/>
              </a:ext>
            </a:extLst>
          </p:cNvPr>
          <p:cNvSpPr txBox="1"/>
          <p:nvPr/>
        </p:nvSpPr>
        <p:spPr>
          <a:xfrm>
            <a:off x="2825456" y="71364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#5.</a:t>
            </a:r>
            <a:r>
              <a:rPr lang="zh-TW" alt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Euphyllia</a:t>
            </a:r>
            <a:r>
              <a:rPr lang="en-US" altLang="zh-TW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400" i="1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glabrescens</a:t>
            </a:r>
            <a:r>
              <a:rPr lang="zh-TW" alt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束型針葉珊瑚</a:t>
            </a:r>
            <a:endParaRPr lang="zh-TW" altLang="en-US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BEF9EC31-974A-47DA-9940-8E3882BFB2A5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35" r="4509"/>
          <a:stretch/>
        </p:blipFill>
        <p:spPr>
          <a:xfrm>
            <a:off x="4534048" y="1321506"/>
            <a:ext cx="2638426" cy="2232000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C06F7CBD-12D3-401A-887A-836CF1075978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73"/>
          <a:stretch/>
        </p:blipFill>
        <p:spPr>
          <a:xfrm>
            <a:off x="7172474" y="1321506"/>
            <a:ext cx="2453026" cy="2232000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23F83457-566E-4F3C-9E0B-E616018951A3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62" r="14160"/>
          <a:stretch/>
        </p:blipFill>
        <p:spPr>
          <a:xfrm>
            <a:off x="2397943" y="1321506"/>
            <a:ext cx="2136105" cy="22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9246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84;p16">
            <a:extLst>
              <a:ext uri="{FF2B5EF4-FFF2-40B4-BE49-F238E27FC236}">
                <a16:creationId xmlns:a16="http://schemas.microsoft.com/office/drawing/2014/main" id="{950B5BBC-75D5-485D-B0F8-DC811CA7EBFE}"/>
              </a:ext>
            </a:extLst>
          </p:cNvPr>
          <p:cNvSpPr txBox="1">
            <a:spLocks/>
          </p:cNvSpPr>
          <p:nvPr/>
        </p:nvSpPr>
        <p:spPr>
          <a:xfrm>
            <a:off x="2512403" y="504825"/>
            <a:ext cx="6576644" cy="4507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#</a:t>
            </a:r>
            <a:r>
              <a:rPr lang="en-US" altLang="zh-TW" dirty="0"/>
              <a:t>7</a:t>
            </a:r>
            <a:r>
              <a:rPr lang="en-US" dirty="0"/>
              <a:t>. </a:t>
            </a:r>
            <a:r>
              <a:rPr lang="en-US" i="1" dirty="0" err="1"/>
              <a:t>Galaxea</a:t>
            </a:r>
            <a:r>
              <a:rPr lang="en-US" i="1" dirty="0"/>
              <a:t> </a:t>
            </a:r>
            <a:r>
              <a:rPr lang="en-US" i="1" dirty="0" err="1"/>
              <a:t>astreata</a:t>
            </a:r>
            <a:r>
              <a:rPr lang="en-US" dirty="0"/>
              <a:t> </a:t>
            </a:r>
            <a:r>
              <a:rPr lang="zh-TW" altLang="en-US" dirty="0"/>
              <a:t>星形棘杯</a:t>
            </a:r>
            <a:r>
              <a:rPr lang="zh-TW" altLang="en-US" sz="2500" dirty="0"/>
              <a:t>珊瑚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en-US" dirty="0"/>
              <a:t>Starburst coral)</a:t>
            </a:r>
          </a:p>
        </p:txBody>
      </p:sp>
      <p:pic>
        <p:nvPicPr>
          <p:cNvPr id="5" name="Google Shape;489;p16" descr="一張含有 礁, 水面下的, 微生物, 無脊椎動物 的圖片&#10;&#10;自動產生的描述">
            <a:hlinkClick r:id="rId2"/>
            <a:extLst>
              <a:ext uri="{FF2B5EF4-FFF2-40B4-BE49-F238E27FC236}">
                <a16:creationId xmlns:a16="http://schemas.microsoft.com/office/drawing/2014/main" id="{1F227B46-F203-49DB-980C-ADF1C270758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05859" y="1000138"/>
            <a:ext cx="1651001" cy="22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490;p16" descr="一張含有 無脊椎動物, 礁, 微生物, 珊瑚礁 的圖片&#10;&#10;自動產生的描述">
            <a:extLst>
              <a:ext uri="{FF2B5EF4-FFF2-40B4-BE49-F238E27FC236}">
                <a16:creationId xmlns:a16="http://schemas.microsoft.com/office/drawing/2014/main" id="{DD0CCA42-D2CB-4B58-B680-F1815A153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4388" y="1000138"/>
            <a:ext cx="1938467" cy="22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491;p16" descr="一張含有 微生物, 珊瑚礁, 水, 無脊椎動物 的圖片&#10;&#10;自動產生的描述">
            <a:extLst>
              <a:ext uri="{FF2B5EF4-FFF2-40B4-BE49-F238E27FC236}">
                <a16:creationId xmlns:a16="http://schemas.microsoft.com/office/drawing/2014/main" id="{74369137-8E19-4519-997A-B41905D1A25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532659" y="1000138"/>
            <a:ext cx="2976000" cy="22320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501;p17">
            <a:extLst>
              <a:ext uri="{FF2B5EF4-FFF2-40B4-BE49-F238E27FC236}">
                <a16:creationId xmlns:a16="http://schemas.microsoft.com/office/drawing/2014/main" id="{DC8FF663-2F52-473B-9766-A1F2C16093A4}"/>
              </a:ext>
            </a:extLst>
          </p:cNvPr>
          <p:cNvSpPr txBox="1">
            <a:spLocks/>
          </p:cNvSpPr>
          <p:nvPr/>
        </p:nvSpPr>
        <p:spPr>
          <a:xfrm>
            <a:off x="2526210" y="3625863"/>
            <a:ext cx="7236915" cy="4507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defPPr>
              <a:defRPr lang="zh-TW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#8. </a:t>
            </a:r>
            <a:r>
              <a:rPr lang="en-US" i="1" dirty="0" err="1"/>
              <a:t>Pavona</a:t>
            </a:r>
            <a:r>
              <a:rPr lang="en-US" i="1" dirty="0"/>
              <a:t> decussata </a:t>
            </a:r>
            <a:r>
              <a:rPr lang="zh-TW" altLang="en-US" dirty="0"/>
              <a:t>板葉雀屏珊瑚 </a:t>
            </a:r>
            <a:r>
              <a:rPr lang="en-US" altLang="zh-TW" dirty="0"/>
              <a:t>(</a:t>
            </a:r>
            <a:r>
              <a:rPr lang="en-US" dirty="0"/>
              <a:t>Leaf coral) </a:t>
            </a:r>
          </a:p>
        </p:txBody>
      </p:sp>
      <p:pic>
        <p:nvPicPr>
          <p:cNvPr id="9" name="Google Shape;503;p17" descr="一張含有 水, 水面下的, 礁, 大自然 的圖片&#10;&#10;自動產生的描述">
            <a:hlinkClick r:id="rId6"/>
            <a:extLst>
              <a:ext uri="{FF2B5EF4-FFF2-40B4-BE49-F238E27FC236}">
                <a16:creationId xmlns:a16="http://schemas.microsoft.com/office/drawing/2014/main" id="{5E941A21-7DB3-4F45-B3A0-97B4E094C839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590321" y="4126239"/>
            <a:ext cx="2524489" cy="22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504;p17" descr="一張含有 無脊椎動物, 礁, 海洋無脊椎動物, 棘皮動物 的圖片&#10;&#10;自動產生的描述">
            <a:hlinkClick r:id="rId8"/>
            <a:extLst>
              <a:ext uri="{FF2B5EF4-FFF2-40B4-BE49-F238E27FC236}">
                <a16:creationId xmlns:a16="http://schemas.microsoft.com/office/drawing/2014/main" id="{9ED10922-D87B-49C5-B435-88179C6EFEBA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312662" y="4117230"/>
            <a:ext cx="1752705" cy="22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505;p17" descr="一張含有 微生物, 水, 水面下的, 珊瑚礁 的圖片&#10;&#10;自動產生的描述">
            <a:hlinkClick r:id="rId10"/>
            <a:extLst>
              <a:ext uri="{FF2B5EF4-FFF2-40B4-BE49-F238E27FC236}">
                <a16:creationId xmlns:a16="http://schemas.microsoft.com/office/drawing/2014/main" id="{8507BF93-E484-4A93-8DA7-66342F41800D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114510" y="4126239"/>
            <a:ext cx="2198452" cy="2232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56051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529;p19">
            <a:extLst>
              <a:ext uri="{FF2B5EF4-FFF2-40B4-BE49-F238E27FC236}">
                <a16:creationId xmlns:a16="http://schemas.microsoft.com/office/drawing/2014/main" id="{E9C73468-6A0E-4C51-A639-A6DDF6CCD5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55278" y="486474"/>
            <a:ext cx="6576644" cy="5135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/>
          <a:p>
            <a:r>
              <a:rPr 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#9. </a:t>
            </a:r>
            <a:r>
              <a:rPr lang="en-US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Porites lobata</a:t>
            </a:r>
            <a:r>
              <a:rPr 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團塊微孔珊瑚</a:t>
            </a:r>
            <a:r>
              <a:rPr 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(Pore coral)</a:t>
            </a:r>
            <a:endParaRPr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5" name="Google Shape;535;p19" descr="一張含有 礁, 無脊椎動物, 海洋無脊椎動物, 微生物 的圖片&#10;&#10;自動產生的描述">
            <a:hlinkClick r:id="rId2"/>
            <a:extLst>
              <a:ext uri="{FF2B5EF4-FFF2-40B4-BE49-F238E27FC236}">
                <a16:creationId xmlns:a16="http://schemas.microsoft.com/office/drawing/2014/main" id="{04D6A18A-9C93-4EB6-A361-577E753E706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55278" y="1086573"/>
            <a:ext cx="3184016" cy="22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C843D230-4AA8-4514-AC88-27A8A5AAE3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9294" y="1085773"/>
            <a:ext cx="2976000" cy="2232000"/>
          </a:xfrm>
          <a:prstGeom prst="rect">
            <a:avLst/>
          </a:prstGeom>
        </p:spPr>
      </p:pic>
      <p:sp>
        <p:nvSpPr>
          <p:cNvPr id="8" name="Google Shape;533;p19">
            <a:extLst>
              <a:ext uri="{FF2B5EF4-FFF2-40B4-BE49-F238E27FC236}">
                <a16:creationId xmlns:a16="http://schemas.microsoft.com/office/drawing/2014/main" id="{C760A2B8-FAC8-46E6-AAC0-D6588BB5D607}"/>
              </a:ext>
            </a:extLst>
          </p:cNvPr>
          <p:cNvSpPr txBox="1">
            <a:spLocks/>
          </p:cNvSpPr>
          <p:nvPr/>
        </p:nvSpPr>
        <p:spPr>
          <a:xfrm>
            <a:off x="2550972" y="3539428"/>
            <a:ext cx="6576644" cy="4507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#10. </a:t>
            </a:r>
            <a:r>
              <a:rPr lang="en-US" i="1" dirty="0" err="1"/>
              <a:t>Turbinaria</a:t>
            </a:r>
            <a:r>
              <a:rPr lang="en-US" i="1" dirty="0"/>
              <a:t> </a:t>
            </a:r>
            <a:r>
              <a:rPr lang="en-US" i="1" dirty="0" err="1"/>
              <a:t>reniformis</a:t>
            </a:r>
            <a:r>
              <a:rPr lang="en-US" i="1" dirty="0"/>
              <a:t> </a:t>
            </a:r>
            <a:r>
              <a:rPr lang="zh-TW" altLang="en-US" dirty="0"/>
              <a:t>腎形盤珊瑚 </a:t>
            </a:r>
            <a:r>
              <a:rPr lang="en-US" altLang="zh-TW" dirty="0"/>
              <a:t>(</a:t>
            </a:r>
            <a:r>
              <a:rPr lang="en-US" dirty="0"/>
              <a:t>Disc Coral)</a:t>
            </a:r>
          </a:p>
        </p:txBody>
      </p:sp>
      <p:pic>
        <p:nvPicPr>
          <p:cNvPr id="9" name="Google Shape;536;p19" descr="一張含有 微生物, 水, 水面下的, 海洋生物學 的圖片&#10;&#10;自動產生的描述">
            <a:hlinkClick r:id="rId5"/>
            <a:extLst>
              <a:ext uri="{FF2B5EF4-FFF2-40B4-BE49-F238E27FC236}">
                <a16:creationId xmlns:a16="http://schemas.microsoft.com/office/drawing/2014/main" id="{2D794725-C701-4318-8542-E0516EE9EF52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564783" y="4032250"/>
            <a:ext cx="3621748" cy="22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537;p19" descr="一張含有 無脊椎動物, 礁, 微生物, 珊瑚礁 的圖片&#10;&#10;自動產生的描述">
            <a:extLst>
              <a:ext uri="{FF2B5EF4-FFF2-40B4-BE49-F238E27FC236}">
                <a16:creationId xmlns:a16="http://schemas.microsoft.com/office/drawing/2014/main" id="{5AF93B2F-ABEE-4EFF-826D-CDA9B33805D5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176449" y="4032250"/>
            <a:ext cx="2976000" cy="2232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347056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547;p20">
            <a:extLst>
              <a:ext uri="{FF2B5EF4-FFF2-40B4-BE49-F238E27FC236}">
                <a16:creationId xmlns:a16="http://schemas.microsoft.com/office/drawing/2014/main" id="{48602E96-73D7-4B26-8CD0-ADFE63236381}"/>
              </a:ext>
            </a:extLst>
          </p:cNvPr>
          <p:cNvSpPr txBox="1">
            <a:spLocks/>
          </p:cNvSpPr>
          <p:nvPr/>
        </p:nvSpPr>
        <p:spPr>
          <a:xfrm>
            <a:off x="2683853" y="219075"/>
            <a:ext cx="6576644" cy="45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Clr>
                <a:schemeClr val="dk1"/>
              </a:buClr>
              <a:buSzPts val="1800"/>
              <a:buFont typeface="Arial" panose="020B0604020202020204" pitchFamily="34" charset="0"/>
              <a:buNone/>
            </a:pPr>
            <a:r>
              <a:rPr 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#11. </a:t>
            </a:r>
            <a:r>
              <a:rPr lang="en-US" sz="2400" i="1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Stylophora</a:t>
            </a:r>
            <a:r>
              <a:rPr lang="en-US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pistillata</a:t>
            </a:r>
            <a:r>
              <a:rPr lang="en-US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萼形柱珊瑚</a:t>
            </a:r>
          </a:p>
        </p:txBody>
      </p:sp>
      <p:pic>
        <p:nvPicPr>
          <p:cNvPr id="5" name="Google Shape;552;p20" descr="一張含有 礁, 微生物, 無脊椎動物, 海洋無脊椎動物 的圖片&#10;&#10;自動產生的描述">
            <a:extLst>
              <a:ext uri="{FF2B5EF4-FFF2-40B4-BE49-F238E27FC236}">
                <a16:creationId xmlns:a16="http://schemas.microsoft.com/office/drawing/2014/main" id="{50885C2F-C31D-4B14-B4F8-DEB2742AC8C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23198" y="711925"/>
            <a:ext cx="2975119" cy="223133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553;p20">
            <a:hlinkClick r:id="rId3"/>
            <a:extLst>
              <a:ext uri="{FF2B5EF4-FFF2-40B4-BE49-F238E27FC236}">
                <a16:creationId xmlns:a16="http://schemas.microsoft.com/office/drawing/2014/main" id="{5B914198-B44B-42D4-A792-174D9BD98FB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86687" y="711923"/>
            <a:ext cx="3560220" cy="223133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573;p22">
            <a:extLst>
              <a:ext uri="{FF2B5EF4-FFF2-40B4-BE49-F238E27FC236}">
                <a16:creationId xmlns:a16="http://schemas.microsoft.com/office/drawing/2014/main" id="{E9C6EEFC-F039-4736-A1EF-A774F5B50E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50477" y="3496374"/>
            <a:ext cx="7088797" cy="513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1800"/>
              <a:buFont typeface="Arial" panose="020B0604020202020204" pitchFamily="34" charset="0"/>
            </a:pPr>
            <a:r>
              <a:rPr 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#12. </a:t>
            </a:r>
            <a:r>
              <a:rPr lang="en-US" sz="2400" i="1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Caulastrea</a:t>
            </a:r>
            <a:r>
              <a:rPr lang="en-US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tumida</a:t>
            </a:r>
            <a:r>
              <a:rPr 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短枝幹星珊瑚</a:t>
            </a:r>
            <a:r>
              <a:rPr 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(Finger Coral) </a:t>
            </a:r>
            <a:endParaRPr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8" name="Google Shape;579;p22" descr="一張含有 無脊椎動物, 礁, 微生物, 珊瑚礁 的圖片&#10;&#10;自動產生的描述">
            <a:hlinkClick r:id="rId5"/>
            <a:extLst>
              <a:ext uri="{FF2B5EF4-FFF2-40B4-BE49-F238E27FC236}">
                <a16:creationId xmlns:a16="http://schemas.microsoft.com/office/drawing/2014/main" id="{D5CB0DFB-177F-40B2-BD2E-5E6819CDACB3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81700" y="4251170"/>
            <a:ext cx="3265207" cy="2448907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583;p22" descr="一張含有 礁, 微生物, 無脊椎動物, 珊瑚礁 的圖片&#10;&#10;自動產生的描述">
            <a:extLst>
              <a:ext uri="{FF2B5EF4-FFF2-40B4-BE49-F238E27FC236}">
                <a16:creationId xmlns:a16="http://schemas.microsoft.com/office/drawing/2014/main" id="{996BB963-89A5-445B-B47D-26E81D263E5B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723198" y="4251171"/>
            <a:ext cx="3258502" cy="244387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73588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589;p23">
            <a:extLst>
              <a:ext uri="{FF2B5EF4-FFF2-40B4-BE49-F238E27FC236}">
                <a16:creationId xmlns:a16="http://schemas.microsoft.com/office/drawing/2014/main" id="{65B7B107-E090-4236-919D-D4C878010B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26728" y="484953"/>
            <a:ext cx="6576644" cy="51357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1800"/>
              <a:buFont typeface="Arial" panose="020B0604020202020204" pitchFamily="34" charset="0"/>
            </a:pPr>
            <a:r>
              <a:rPr 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#13. </a:t>
            </a:r>
            <a:r>
              <a:rPr lang="en-US" sz="2400" i="1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Dipsastraea</a:t>
            </a:r>
            <a:r>
              <a:rPr lang="en-US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favus</a:t>
            </a:r>
            <a:r>
              <a:rPr 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正盤星珊瑚</a:t>
            </a:r>
            <a:r>
              <a:rPr 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(Knob Coral)</a:t>
            </a:r>
            <a:endParaRPr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5" name="Google Shape;595;p23" descr="一張含有 礁, 無脊椎動物, 微生物, 水面下的 的圖片&#10;&#10;自動產生的描述">
            <a:extLst>
              <a:ext uri="{FF2B5EF4-FFF2-40B4-BE49-F238E27FC236}">
                <a16:creationId xmlns:a16="http://schemas.microsoft.com/office/drawing/2014/main" id="{247454B1-7216-49FE-8E44-7D0BBAF4862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947891" y="1006500"/>
            <a:ext cx="3419129" cy="22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596;p23" descr="一張含有 礁, 水面下的, 微生物, 無脊椎動物 的圖片&#10;&#10;自動產生的描述">
            <a:hlinkClick r:id="rId3"/>
            <a:extLst>
              <a:ext uri="{FF2B5EF4-FFF2-40B4-BE49-F238E27FC236}">
                <a16:creationId xmlns:a16="http://schemas.microsoft.com/office/drawing/2014/main" id="{315E9B6D-2754-4E76-AB2B-527645BDE87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68087" y="1006500"/>
            <a:ext cx="3081181" cy="223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468;p15">
            <a:extLst>
              <a:ext uri="{FF2B5EF4-FFF2-40B4-BE49-F238E27FC236}">
                <a16:creationId xmlns:a16="http://schemas.microsoft.com/office/drawing/2014/main" id="{842C94A4-8326-48EB-B94F-6D13E11C9874}"/>
              </a:ext>
            </a:extLst>
          </p:cNvPr>
          <p:cNvSpPr txBox="1">
            <a:spLocks/>
          </p:cNvSpPr>
          <p:nvPr/>
        </p:nvSpPr>
        <p:spPr>
          <a:xfrm>
            <a:off x="2826727" y="3619501"/>
            <a:ext cx="7907948" cy="45077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#</a:t>
            </a:r>
            <a:r>
              <a:rPr lang="en-US" altLang="zh-TW" dirty="0"/>
              <a:t>14</a:t>
            </a:r>
            <a:r>
              <a:rPr lang="en-US" dirty="0"/>
              <a:t>. </a:t>
            </a:r>
            <a:r>
              <a:rPr lang="en-US" i="1" dirty="0" err="1"/>
              <a:t>Montipora</a:t>
            </a:r>
            <a:r>
              <a:rPr lang="en-US" i="1" dirty="0"/>
              <a:t> </a:t>
            </a:r>
            <a:r>
              <a:rPr lang="en-US" i="1" dirty="0" err="1"/>
              <a:t>aequituberculat</a:t>
            </a:r>
            <a:r>
              <a:rPr lang="en-US" i="1" dirty="0"/>
              <a:t> </a:t>
            </a:r>
            <a:r>
              <a:rPr lang="zh-TW" altLang="en-US" dirty="0"/>
              <a:t>癭葉表孔珊瑚 </a:t>
            </a:r>
            <a:r>
              <a:rPr lang="en-US" altLang="zh-TW" dirty="0"/>
              <a:t>(</a:t>
            </a:r>
            <a:r>
              <a:rPr lang="en-US" dirty="0"/>
              <a:t>Pore Coral)</a:t>
            </a:r>
          </a:p>
        </p:txBody>
      </p:sp>
      <p:pic>
        <p:nvPicPr>
          <p:cNvPr id="12" name="Google Shape;470;p15">
            <a:hlinkClick r:id="rId5"/>
            <a:extLst>
              <a:ext uri="{FF2B5EF4-FFF2-40B4-BE49-F238E27FC236}">
                <a16:creationId xmlns:a16="http://schemas.microsoft.com/office/drawing/2014/main" id="{D8D13176-2620-44FB-8DA6-C6D8BD232ED6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t="8365" b="7425"/>
          <a:stretch/>
        </p:blipFill>
        <p:spPr>
          <a:xfrm>
            <a:off x="2880177" y="4141047"/>
            <a:ext cx="3234873" cy="22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471;p15" descr="一張含有 微生物, 珊瑚礁, 水面下的, 海洋生物學 的圖片&#10;&#10;自動產生的描述">
            <a:hlinkClick r:id="rId7"/>
            <a:extLst>
              <a:ext uri="{FF2B5EF4-FFF2-40B4-BE49-F238E27FC236}">
                <a16:creationId xmlns:a16="http://schemas.microsoft.com/office/drawing/2014/main" id="{E35CC12F-DEB9-4676-90CC-3EE14C531E48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 rot="10800000">
            <a:off x="6115050" y="4141047"/>
            <a:ext cx="3298874" cy="2232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862932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636;p26">
            <a:extLst>
              <a:ext uri="{FF2B5EF4-FFF2-40B4-BE49-F238E27FC236}">
                <a16:creationId xmlns:a16="http://schemas.microsoft.com/office/drawing/2014/main" id="{4FA38156-7B73-4132-811A-8F3B08745974}"/>
              </a:ext>
            </a:extLst>
          </p:cNvPr>
          <p:cNvSpPr txBox="1">
            <a:spLocks/>
          </p:cNvSpPr>
          <p:nvPr/>
        </p:nvSpPr>
        <p:spPr>
          <a:xfrm>
            <a:off x="2598127" y="352426"/>
            <a:ext cx="7793647" cy="51357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 fontScale="97500"/>
          </a:bodyPr>
          <a:lstStyle>
            <a:lvl1pPr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Arial" panose="020B0604020202020204" pitchFamily="34" charset="0"/>
              <a:buNone/>
              <a:defRPr sz="2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en-US" altLang="zh-TW" sz="2400" dirty="0"/>
              <a:t>#15.</a:t>
            </a:r>
            <a:r>
              <a:rPr lang="zh-TW" altLang="en-US" sz="2400" dirty="0"/>
              <a:t> </a:t>
            </a:r>
            <a:r>
              <a:rPr lang="en-US" sz="2400" i="1" dirty="0" err="1"/>
              <a:t>Cladiella</a:t>
            </a:r>
            <a:r>
              <a:rPr lang="en-US" sz="2400" i="1" dirty="0"/>
              <a:t> </a:t>
            </a:r>
            <a:r>
              <a:rPr lang="en-US" sz="2400" i="1" dirty="0" err="1"/>
              <a:t>pachyclados</a:t>
            </a:r>
            <a:r>
              <a:rPr lang="en-US" sz="2400" i="1" dirty="0"/>
              <a:t> </a:t>
            </a:r>
            <a:r>
              <a:rPr lang="zh-TW" altLang="en-US" sz="2400" dirty="0"/>
              <a:t>粗壯小枝軟珊瑚</a:t>
            </a:r>
          </a:p>
        </p:txBody>
      </p:sp>
      <p:pic>
        <p:nvPicPr>
          <p:cNvPr id="5" name="Google Shape;641;p26" descr="一張含有 無脊椎動物, 微生物, 珊瑚礁, 珊瑚 的圖片&#10;&#10;自動產生的描述">
            <a:hlinkClick r:id="rId2"/>
            <a:extLst>
              <a:ext uri="{FF2B5EF4-FFF2-40B4-BE49-F238E27FC236}">
                <a16:creationId xmlns:a16="http://schemas.microsoft.com/office/drawing/2014/main" id="{6A7B0B6C-9462-444D-AC05-103351DF8B8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04871" y="866077"/>
            <a:ext cx="1882246" cy="22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643;p26">
            <a:extLst>
              <a:ext uri="{FF2B5EF4-FFF2-40B4-BE49-F238E27FC236}">
                <a16:creationId xmlns:a16="http://schemas.microsoft.com/office/drawing/2014/main" id="{78790B3F-07CB-4D3C-AFB8-9FC46287821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05588" y="866077"/>
            <a:ext cx="2310993" cy="22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644;p26">
            <a:extLst>
              <a:ext uri="{FF2B5EF4-FFF2-40B4-BE49-F238E27FC236}">
                <a16:creationId xmlns:a16="http://schemas.microsoft.com/office/drawing/2014/main" id="{3A97F366-4923-461C-8779-118911032A4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902200" y="866077"/>
            <a:ext cx="2421721" cy="223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DFAC22DB-E788-4AAF-9D0C-C44C8DCEAB59}"/>
              </a:ext>
            </a:extLst>
          </p:cNvPr>
          <p:cNvSpPr txBox="1"/>
          <p:nvPr/>
        </p:nvSpPr>
        <p:spPr>
          <a:xfrm>
            <a:off x="2605588" y="3547558"/>
            <a:ext cx="6096000" cy="42473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 fontScale="97500"/>
          </a:bodyPr>
          <a:lstStyle>
            <a:defPPr>
              <a:defRPr lang="zh-TW"/>
            </a:defPPr>
            <a:lvl1pPr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Arial" panose="020B0604020202020204" pitchFamily="34" charset="0"/>
              <a:buNone/>
              <a:defRPr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#16.</a:t>
            </a:r>
            <a:r>
              <a:rPr lang="en-US" altLang="zh-TW" i="1" dirty="0"/>
              <a:t>Nephthea</a:t>
            </a:r>
            <a:r>
              <a:rPr lang="en-US" altLang="zh-TW" dirty="0"/>
              <a:t> </a:t>
            </a:r>
            <a:r>
              <a:rPr lang="en-US" altLang="zh-TW" dirty="0" err="1"/>
              <a:t>sp</a:t>
            </a:r>
            <a:r>
              <a:rPr lang="en-US" altLang="zh-TW" dirty="0"/>
              <a:t> </a:t>
            </a:r>
            <a:r>
              <a:rPr lang="zh-TW" altLang="en-US" dirty="0"/>
              <a:t>穗軟珊瑚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4B583243-3120-432B-AE21-421C1B5D207D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166"/>
          <a:stretch/>
        </p:blipFill>
        <p:spPr>
          <a:xfrm>
            <a:off x="2605588" y="4041366"/>
            <a:ext cx="3490411" cy="2551933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8E6224A7-7E67-4886-8889-B11AA29DDC68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265"/>
          <a:stretch/>
        </p:blipFill>
        <p:spPr>
          <a:xfrm>
            <a:off x="6064646" y="4041365"/>
            <a:ext cx="3100238" cy="2551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196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186</Words>
  <Application>Microsoft Office PowerPoint</Application>
  <PresentationFormat>寬螢幕</PresentationFormat>
  <Paragraphs>17</Paragraphs>
  <Slides>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5" baseType="lpstr">
      <vt:lpstr>標楷體</vt:lpstr>
      <vt:lpstr>Arial</vt:lpstr>
      <vt:lpstr>Calibri</vt:lpstr>
      <vt:lpstr>Calibri Light</vt:lpstr>
      <vt:lpstr>Times New Roman</vt:lpstr>
      <vt:lpstr>Office 佈景主題</vt:lpstr>
      <vt:lpstr>珊瑚農場百萬缸內的 珊瑚物種</vt:lpstr>
      <vt:lpstr>#1. Acropora aff. samoensis (tumida) 三毛亞軸孔珊瑚</vt:lpstr>
      <vt:lpstr>#3. Acropora grandis 巨枝軸孔珊瑚 (Staghorn coral)</vt:lpstr>
      <vt:lpstr>#6. Fimbriaphyllia ancora 錨形紋葉珊瑚 (Anchor coral)</vt:lpstr>
      <vt:lpstr>PowerPoint 簡報</vt:lpstr>
      <vt:lpstr>#9. Porites lobata 團塊微孔珊瑚 (Pore coral)</vt:lpstr>
      <vt:lpstr>#12. Caulastrea tumida 短枝幹星珊瑚 (Finger Coral) </vt:lpstr>
      <vt:lpstr>#13. Dipsastraea favus 正盤星珊瑚 (Knob Coral)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珊瑚農場百萬缸內的 珊瑚物種</dc:title>
  <dc:creator>宗晉 吳</dc:creator>
  <cp:lastModifiedBy>宗晉 吳</cp:lastModifiedBy>
  <cp:revision>7</cp:revision>
  <dcterms:created xsi:type="dcterms:W3CDTF">2025-07-02T11:14:21Z</dcterms:created>
  <dcterms:modified xsi:type="dcterms:W3CDTF">2025-07-03T11:33:08Z</dcterms:modified>
</cp:coreProperties>
</file>